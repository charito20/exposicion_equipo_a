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Sugo Classic" charset="1" panose="00000000000000000000"/>
      <p:regular r:id="rId26"/>
    </p:embeddedFont>
    <p:embeddedFont>
      <p:font typeface="Blacker Sans Pro" charset="1" panose="00000500000000000000"/>
      <p:regular r:id="rId27"/>
    </p:embeddedFont>
    <p:embeddedFont>
      <p:font typeface="Blacker Sans Pro Bold" charset="1" panose="000007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3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27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4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6289550" y="0"/>
            <a:ext cx="3996900" cy="1274567"/>
          </a:xfrm>
          <a:custGeom>
            <a:avLst/>
            <a:gdLst/>
            <a:ahLst/>
            <a:cxnLst/>
            <a:rect r="r" b="b" t="t" l="l"/>
            <a:pathLst>
              <a:path h="1274567" w="3996900">
                <a:moveTo>
                  <a:pt x="0" y="0"/>
                </a:moveTo>
                <a:lnTo>
                  <a:pt x="3996900" y="0"/>
                </a:lnTo>
                <a:lnTo>
                  <a:pt x="3996900" y="1274567"/>
                </a:lnTo>
                <a:lnTo>
                  <a:pt x="0" y="1274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727519" y="9092531"/>
            <a:ext cx="3745720" cy="1194469"/>
          </a:xfrm>
          <a:custGeom>
            <a:avLst/>
            <a:gdLst/>
            <a:ahLst/>
            <a:cxnLst/>
            <a:rect r="r" b="b" t="t" l="l"/>
            <a:pathLst>
              <a:path h="1194469" w="3745720">
                <a:moveTo>
                  <a:pt x="0" y="1194469"/>
                </a:moveTo>
                <a:lnTo>
                  <a:pt x="3745720" y="1194469"/>
                </a:lnTo>
                <a:lnTo>
                  <a:pt x="3745720" y="0"/>
                </a:lnTo>
                <a:lnTo>
                  <a:pt x="0" y="0"/>
                </a:lnTo>
                <a:lnTo>
                  <a:pt x="0" y="11944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80840" y="6349266"/>
            <a:ext cx="9326321" cy="974972"/>
            <a:chOff x="0" y="0"/>
            <a:chExt cx="12435094" cy="129996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435094" cy="1299963"/>
              <a:chOff x="0" y="0"/>
              <a:chExt cx="2079798" cy="21742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79798" cy="217422"/>
              </a:xfrm>
              <a:custGeom>
                <a:avLst/>
                <a:gdLst/>
                <a:ahLst/>
                <a:cxnLst/>
                <a:rect r="r" b="b" t="t" l="l"/>
                <a:pathLst>
                  <a:path h="217422" w="2079798">
                    <a:moveTo>
                      <a:pt x="5882" y="0"/>
                    </a:moveTo>
                    <a:lnTo>
                      <a:pt x="2073915" y="0"/>
                    </a:lnTo>
                    <a:cubicBezTo>
                      <a:pt x="2075476" y="0"/>
                      <a:pt x="2076972" y="620"/>
                      <a:pt x="2078075" y="1723"/>
                    </a:cubicBezTo>
                    <a:cubicBezTo>
                      <a:pt x="2079178" y="2826"/>
                      <a:pt x="2079798" y="4322"/>
                      <a:pt x="2079798" y="5882"/>
                    </a:cubicBezTo>
                    <a:lnTo>
                      <a:pt x="2079798" y="211539"/>
                    </a:lnTo>
                    <a:cubicBezTo>
                      <a:pt x="2079798" y="214788"/>
                      <a:pt x="2077164" y="217422"/>
                      <a:pt x="2073915" y="217422"/>
                    </a:cubicBezTo>
                    <a:lnTo>
                      <a:pt x="5882" y="217422"/>
                    </a:lnTo>
                    <a:cubicBezTo>
                      <a:pt x="4322" y="217422"/>
                      <a:pt x="2826" y="216802"/>
                      <a:pt x="1723" y="215699"/>
                    </a:cubicBezTo>
                    <a:cubicBezTo>
                      <a:pt x="620" y="214596"/>
                      <a:pt x="0" y="213099"/>
                      <a:pt x="0" y="211539"/>
                    </a:cubicBezTo>
                    <a:lnTo>
                      <a:pt x="0" y="5882"/>
                    </a:lnTo>
                    <a:cubicBezTo>
                      <a:pt x="0" y="4322"/>
                      <a:pt x="620" y="2826"/>
                      <a:pt x="1723" y="1723"/>
                    </a:cubicBezTo>
                    <a:cubicBezTo>
                      <a:pt x="2826" y="620"/>
                      <a:pt x="4322" y="0"/>
                      <a:pt x="5882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2079798" cy="2650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4059" y="173782"/>
              <a:ext cx="12226976" cy="857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254"/>
                </a:lnSpc>
              </a:pPr>
              <a:r>
                <a:rPr lang="en-US" sz="3753">
                  <a:solidFill>
                    <a:srgbClr val="000000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Herramienta Automatizada para la Ingeniería de Requisitos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610526" y="1028700"/>
            <a:ext cx="5066949" cy="5103182"/>
          </a:xfrm>
          <a:custGeom>
            <a:avLst/>
            <a:gdLst/>
            <a:ahLst/>
            <a:cxnLst/>
            <a:rect r="r" b="b" t="t" l="l"/>
            <a:pathLst>
              <a:path h="5103182" w="5066949">
                <a:moveTo>
                  <a:pt x="0" y="0"/>
                </a:moveTo>
                <a:lnTo>
                  <a:pt x="5066948" y="0"/>
                </a:lnTo>
                <a:lnTo>
                  <a:pt x="5066948" y="5103182"/>
                </a:lnTo>
                <a:lnTo>
                  <a:pt x="0" y="510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02" t="-26337" r="-15654" b="-706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39533" y="7719930"/>
            <a:ext cx="8608933" cy="53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  <a:spcBef>
                <a:spcPct val="0"/>
              </a:spcBef>
            </a:pPr>
            <a:r>
              <a:rPr lang="en-US" sz="29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EQUIPO A: DÍAZ STEVEN · ESCUDERO MARÍA · MERA ERICK · MESÍAS JHON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61878" y="8640621"/>
            <a:ext cx="1564243" cy="61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4"/>
              </a:lnSpc>
              <a:spcBef>
                <a:spcPct val="0"/>
              </a:spcBef>
            </a:pPr>
            <a:r>
              <a:rPr lang="en-US" sz="34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Junio </a:t>
            </a:r>
            <a:r>
              <a:rPr lang="en-US" sz="34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37" y="334067"/>
            <a:ext cx="17738725" cy="9618865"/>
            <a:chOff x="0" y="0"/>
            <a:chExt cx="4671928" cy="253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1928" cy="2533364"/>
            </a:xfrm>
            <a:custGeom>
              <a:avLst/>
              <a:gdLst/>
              <a:ahLst/>
              <a:cxnLst/>
              <a:rect r="r" b="b" t="t" l="l"/>
              <a:pathLst>
                <a:path h="2533364" w="4671928">
                  <a:moveTo>
                    <a:pt x="0" y="0"/>
                  </a:moveTo>
                  <a:lnTo>
                    <a:pt x="4671928" y="0"/>
                  </a:lnTo>
                  <a:lnTo>
                    <a:pt x="4671928" y="2533364"/>
                  </a:lnTo>
                  <a:lnTo>
                    <a:pt x="0" y="2533364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71928" cy="2580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89765" y="3909761"/>
            <a:ext cx="884051" cy="878842"/>
            <a:chOff x="0" y="0"/>
            <a:chExt cx="261125" cy="259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89765" y="5314132"/>
            <a:ext cx="884051" cy="878842"/>
            <a:chOff x="0" y="0"/>
            <a:chExt cx="261125" cy="259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89765" y="6733039"/>
            <a:ext cx="884051" cy="878842"/>
            <a:chOff x="0" y="0"/>
            <a:chExt cx="261125" cy="2595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89765" y="8135757"/>
            <a:ext cx="884051" cy="878842"/>
            <a:chOff x="0" y="0"/>
            <a:chExt cx="261125" cy="2595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90619" y="6733039"/>
            <a:ext cx="884051" cy="878842"/>
            <a:chOff x="0" y="0"/>
            <a:chExt cx="261125" cy="2595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26280" y="3933367"/>
            <a:ext cx="884051" cy="878842"/>
            <a:chOff x="0" y="0"/>
            <a:chExt cx="261125" cy="2595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11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8988142" y="3933367"/>
            <a:ext cx="0" cy="5081231"/>
          </a:xfrm>
          <a:prstGeom prst="line">
            <a:avLst/>
          </a:prstGeom>
          <a:ln cap="flat" w="28575">
            <a:solidFill>
              <a:srgbClr val="FFD3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3066795" y="952500"/>
            <a:ext cx="12518969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51"/>
              </a:lnSpc>
              <a:spcBef>
                <a:spcPct val="0"/>
              </a:spcBef>
            </a:pPr>
            <a:r>
              <a:rPr lang="en-US" sz="12876" spc="656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¿QUÉ VEREMOS HOY?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33539" y="3945823"/>
            <a:ext cx="3432376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¿Q</a:t>
            </a:r>
            <a:r>
              <a:rPr lang="en-US" sz="4255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UÉ ES REQVIEW?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3272" y="5319729"/>
            <a:ext cx="6642643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RELACIÓN CON IR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3713" y="6749564"/>
            <a:ext cx="5622202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FUNCIONALIDADES PRINCIPALES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96644" y="8148213"/>
            <a:ext cx="4469271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ESTRUCTURA DE TRABAJO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24656" y="3956657"/>
            <a:ext cx="4675680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VENTAJAS Y LIMITACIONES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31525" y="6760490"/>
            <a:ext cx="3119790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DEMO - PRÁ</a:t>
            </a: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CTICA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516015" y="7465188"/>
            <a:ext cx="2497348" cy="2487744"/>
          </a:xfrm>
          <a:custGeom>
            <a:avLst/>
            <a:gdLst/>
            <a:ahLst/>
            <a:cxnLst/>
            <a:rect r="r" b="b" t="t" l="l"/>
            <a:pathLst>
              <a:path h="2487744" w="2497348">
                <a:moveTo>
                  <a:pt x="0" y="0"/>
                </a:moveTo>
                <a:lnTo>
                  <a:pt x="2497347" y="0"/>
                </a:lnTo>
                <a:lnTo>
                  <a:pt x="2497347" y="2487745"/>
                </a:lnTo>
                <a:lnTo>
                  <a:pt x="0" y="2487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009" t="-10858" r="-63821" b="-8687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390619" y="5314132"/>
            <a:ext cx="884051" cy="878842"/>
            <a:chOff x="0" y="0"/>
            <a:chExt cx="261125" cy="2595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13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588995" y="5325193"/>
            <a:ext cx="5759702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APLICACIÓN AL </a:t>
            </a: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CASO DE ESTUDIO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90619" y="8135757"/>
            <a:ext cx="884051" cy="878842"/>
            <a:chOff x="0" y="0"/>
            <a:chExt cx="261125" cy="2595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1125" cy="259587"/>
            </a:xfrm>
            <a:custGeom>
              <a:avLst/>
              <a:gdLst/>
              <a:ahLst/>
              <a:cxnLst/>
              <a:rect r="r" b="b" t="t" l="l"/>
              <a:pathLst>
                <a:path h="259587" w="261125">
                  <a:moveTo>
                    <a:pt x="52544" y="0"/>
                  </a:moveTo>
                  <a:lnTo>
                    <a:pt x="208582" y="0"/>
                  </a:lnTo>
                  <a:cubicBezTo>
                    <a:pt x="237601" y="0"/>
                    <a:pt x="261125" y="23525"/>
                    <a:pt x="261125" y="52544"/>
                  </a:cubicBezTo>
                  <a:lnTo>
                    <a:pt x="261125" y="207043"/>
                  </a:lnTo>
                  <a:cubicBezTo>
                    <a:pt x="261125" y="236062"/>
                    <a:pt x="237601" y="259587"/>
                    <a:pt x="208582" y="259587"/>
                  </a:cubicBezTo>
                  <a:lnTo>
                    <a:pt x="52544" y="259587"/>
                  </a:lnTo>
                  <a:cubicBezTo>
                    <a:pt x="23525" y="259587"/>
                    <a:pt x="0" y="236062"/>
                    <a:pt x="0" y="207043"/>
                  </a:cubicBezTo>
                  <a:lnTo>
                    <a:pt x="0" y="52544"/>
                  </a:lnTo>
                  <a:cubicBezTo>
                    <a:pt x="0" y="23525"/>
                    <a:pt x="23525" y="0"/>
                    <a:pt x="52544" y="0"/>
                  </a:cubicBezTo>
                  <a:close/>
                </a:path>
              </a:pathLst>
            </a:custGeom>
            <a:solidFill>
              <a:srgbClr val="FFB41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14300"/>
              <a:ext cx="261125" cy="37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44"/>
                </a:lnSpc>
              </a:pPr>
              <a:r>
                <a:rPr lang="en-US" sz="4031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16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531525" y="8163207"/>
            <a:ext cx="2810813" cy="74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7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05883" y="3732819"/>
            <a:ext cx="8736001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¿Q</a:t>
            </a:r>
            <a:r>
              <a:rPr lang="en-US" sz="108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UÉ ES REQVIEW?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704" y="8145001"/>
            <a:ext cx="1964199" cy="1956645"/>
          </a:xfrm>
          <a:custGeom>
            <a:avLst/>
            <a:gdLst/>
            <a:ahLst/>
            <a:cxnLst/>
            <a:rect r="r" b="b" t="t" l="l"/>
            <a:pathLst>
              <a:path h="1956645" w="1964199">
                <a:moveTo>
                  <a:pt x="0" y="0"/>
                </a:moveTo>
                <a:lnTo>
                  <a:pt x="1964198" y="0"/>
                </a:lnTo>
                <a:lnTo>
                  <a:pt x="1964198" y="1956646"/>
                </a:lnTo>
                <a:lnTo>
                  <a:pt x="0" y="1956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665765"/>
            <a:ext cx="11301259" cy="70633"/>
          </a:xfrm>
          <a:custGeom>
            <a:avLst/>
            <a:gdLst/>
            <a:ahLst/>
            <a:cxnLst/>
            <a:rect r="r" b="b" t="t" l="l"/>
            <a:pathLst>
              <a:path h="70633" w="11301259">
                <a:moveTo>
                  <a:pt x="0" y="0"/>
                </a:moveTo>
                <a:lnTo>
                  <a:pt x="11301258" y="0"/>
                </a:lnTo>
                <a:lnTo>
                  <a:pt x="11301258" y="70633"/>
                </a:lnTo>
                <a:lnTo>
                  <a:pt x="0" y="70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3817" y="2942547"/>
            <a:ext cx="1736050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4236263" y="5099087"/>
            <a:ext cx="9742230" cy="3896892"/>
          </a:xfrm>
          <a:custGeom>
            <a:avLst/>
            <a:gdLst/>
            <a:ahLst/>
            <a:cxnLst/>
            <a:rect r="r" b="b" t="t" l="l"/>
            <a:pathLst>
              <a:path h="3896892" w="9742230">
                <a:moveTo>
                  <a:pt x="0" y="0"/>
                </a:moveTo>
                <a:lnTo>
                  <a:pt x="9742230" y="0"/>
                </a:lnTo>
                <a:lnTo>
                  <a:pt x="9742230" y="3896892"/>
                </a:lnTo>
                <a:lnTo>
                  <a:pt x="0" y="38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9778" y="4399647"/>
            <a:ext cx="9055201" cy="5999070"/>
          </a:xfrm>
          <a:custGeom>
            <a:avLst/>
            <a:gdLst/>
            <a:ahLst/>
            <a:cxnLst/>
            <a:rect r="r" b="b" t="t" l="l"/>
            <a:pathLst>
              <a:path h="5999070" w="9055201">
                <a:moveTo>
                  <a:pt x="0" y="0"/>
                </a:moveTo>
                <a:lnTo>
                  <a:pt x="9055200" y="0"/>
                </a:lnTo>
                <a:lnTo>
                  <a:pt x="9055200" y="5999070"/>
                </a:lnTo>
                <a:lnTo>
                  <a:pt x="0" y="5999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10281" y="2422020"/>
            <a:ext cx="2994194" cy="589189"/>
            <a:chOff x="0" y="0"/>
            <a:chExt cx="3992259" cy="78558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992259" cy="785585"/>
              <a:chOff x="0" y="0"/>
              <a:chExt cx="968478" cy="19057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68478" cy="190574"/>
              </a:xfrm>
              <a:custGeom>
                <a:avLst/>
                <a:gdLst/>
                <a:ahLst/>
                <a:cxnLst/>
                <a:rect r="r" b="b" t="t" l="l"/>
                <a:pathLst>
                  <a:path h="190574" w="968478">
                    <a:moveTo>
                      <a:pt x="15514" y="0"/>
                    </a:moveTo>
                    <a:lnTo>
                      <a:pt x="952964" y="0"/>
                    </a:lnTo>
                    <a:cubicBezTo>
                      <a:pt x="961532" y="0"/>
                      <a:pt x="968478" y="6946"/>
                      <a:pt x="968478" y="15514"/>
                    </a:cubicBezTo>
                    <a:lnTo>
                      <a:pt x="968478" y="175060"/>
                    </a:lnTo>
                    <a:cubicBezTo>
                      <a:pt x="968478" y="179175"/>
                      <a:pt x="966843" y="183121"/>
                      <a:pt x="963934" y="186030"/>
                    </a:cubicBezTo>
                    <a:cubicBezTo>
                      <a:pt x="961024" y="188940"/>
                      <a:pt x="957078" y="190574"/>
                      <a:pt x="952964" y="190574"/>
                    </a:cubicBezTo>
                    <a:lnTo>
                      <a:pt x="15514" y="190574"/>
                    </a:lnTo>
                    <a:cubicBezTo>
                      <a:pt x="6946" y="190574"/>
                      <a:pt x="0" y="183628"/>
                      <a:pt x="0" y="175060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968478" cy="2381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84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7015" y="6188"/>
              <a:ext cx="3883628" cy="687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GESTIÓN DE REQUISITOS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75610" y="8378008"/>
            <a:ext cx="1767380" cy="1760584"/>
          </a:xfrm>
          <a:custGeom>
            <a:avLst/>
            <a:gdLst/>
            <a:ahLst/>
            <a:cxnLst/>
            <a:rect r="r" b="b" t="t" l="l"/>
            <a:pathLst>
              <a:path h="1760584" w="1767380">
                <a:moveTo>
                  <a:pt x="0" y="0"/>
                </a:moveTo>
                <a:lnTo>
                  <a:pt x="1767380" y="0"/>
                </a:lnTo>
                <a:lnTo>
                  <a:pt x="1767380" y="1760584"/>
                </a:lnTo>
                <a:lnTo>
                  <a:pt x="0" y="1760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009" t="-10858" r="-63821" b="-868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8235" y="316860"/>
            <a:ext cx="10100030" cy="179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99"/>
              </a:lnSpc>
            </a:pPr>
            <a:r>
              <a:rPr lang="en-US" sz="11332" spc="577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¿QUÉ ES REQVIEW?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989" y="3268384"/>
            <a:ext cx="16564022" cy="81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ReqView es una herramienta especializada para gestionar requisitos de software y sistemas. Su función principal es convertir requisitos dispersos en información organizada, trazable y controlada durante el desarrollo del proyecto.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6375" y="3732819"/>
            <a:ext cx="7635249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RELACIÓN</a:t>
            </a:r>
            <a:r>
              <a:rPr lang="en-US" sz="108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 CON IR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665" y="8144963"/>
            <a:ext cx="1964237" cy="1956684"/>
          </a:xfrm>
          <a:custGeom>
            <a:avLst/>
            <a:gdLst/>
            <a:ahLst/>
            <a:cxnLst/>
            <a:rect r="r" b="b" t="t" l="l"/>
            <a:pathLst>
              <a:path h="1956684" w="1964237">
                <a:moveTo>
                  <a:pt x="0" y="0"/>
                </a:moveTo>
                <a:lnTo>
                  <a:pt x="1964237" y="0"/>
                </a:lnTo>
                <a:lnTo>
                  <a:pt x="1964237" y="1956684"/>
                </a:lnTo>
                <a:lnTo>
                  <a:pt x="0" y="195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665765"/>
            <a:ext cx="11301259" cy="70633"/>
          </a:xfrm>
          <a:custGeom>
            <a:avLst/>
            <a:gdLst/>
            <a:ahLst/>
            <a:cxnLst/>
            <a:rect r="r" b="b" t="t" l="l"/>
            <a:pathLst>
              <a:path h="70633" w="11301259">
                <a:moveTo>
                  <a:pt x="0" y="0"/>
                </a:moveTo>
                <a:lnTo>
                  <a:pt x="11301258" y="0"/>
                </a:lnTo>
                <a:lnTo>
                  <a:pt x="11301258" y="70633"/>
                </a:lnTo>
                <a:lnTo>
                  <a:pt x="0" y="70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5062" y="2942547"/>
            <a:ext cx="1813560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37" y="334067"/>
            <a:ext cx="17738725" cy="9618865"/>
            <a:chOff x="0" y="0"/>
            <a:chExt cx="4671928" cy="2533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1928" cy="2533364"/>
            </a:xfrm>
            <a:custGeom>
              <a:avLst/>
              <a:gdLst/>
              <a:ahLst/>
              <a:cxnLst/>
              <a:rect r="r" b="b" t="t" l="l"/>
              <a:pathLst>
                <a:path h="2533364" w="4671928">
                  <a:moveTo>
                    <a:pt x="0" y="0"/>
                  </a:moveTo>
                  <a:lnTo>
                    <a:pt x="4671928" y="0"/>
                  </a:lnTo>
                  <a:lnTo>
                    <a:pt x="4671928" y="2533364"/>
                  </a:lnTo>
                  <a:lnTo>
                    <a:pt x="0" y="2533364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71928" cy="2580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38586" y="4817156"/>
            <a:ext cx="5091268" cy="652689"/>
            <a:chOff x="0" y="0"/>
            <a:chExt cx="6788358" cy="87025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788358" cy="870252"/>
              <a:chOff x="0" y="0"/>
              <a:chExt cx="1646780" cy="2111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46780" cy="211113"/>
              </a:xfrm>
              <a:custGeom>
                <a:avLst/>
                <a:gdLst/>
                <a:ahLst/>
                <a:cxnLst/>
                <a:rect r="r" b="b" t="t" l="l"/>
                <a:pathLst>
                  <a:path h="211113" w="1646780">
                    <a:moveTo>
                      <a:pt x="9124" y="0"/>
                    </a:moveTo>
                    <a:lnTo>
                      <a:pt x="1637656" y="0"/>
                    </a:lnTo>
                    <a:cubicBezTo>
                      <a:pt x="1640076" y="0"/>
                      <a:pt x="1642397" y="961"/>
                      <a:pt x="1644108" y="2672"/>
                    </a:cubicBezTo>
                    <a:cubicBezTo>
                      <a:pt x="1645819" y="4383"/>
                      <a:pt x="1646780" y="6704"/>
                      <a:pt x="1646780" y="9124"/>
                    </a:cubicBezTo>
                    <a:lnTo>
                      <a:pt x="1646780" y="201990"/>
                    </a:lnTo>
                    <a:cubicBezTo>
                      <a:pt x="1646780" y="204409"/>
                      <a:pt x="1645819" y="206730"/>
                      <a:pt x="1644108" y="208441"/>
                    </a:cubicBezTo>
                    <a:cubicBezTo>
                      <a:pt x="1642397" y="210152"/>
                      <a:pt x="1640076" y="211113"/>
                      <a:pt x="1637656" y="211113"/>
                    </a:cubicBezTo>
                    <a:lnTo>
                      <a:pt x="9124" y="211113"/>
                    </a:lnTo>
                    <a:cubicBezTo>
                      <a:pt x="6704" y="211113"/>
                      <a:pt x="4383" y="210152"/>
                      <a:pt x="2672" y="208441"/>
                    </a:cubicBezTo>
                    <a:cubicBezTo>
                      <a:pt x="961" y="206730"/>
                      <a:pt x="0" y="204409"/>
                      <a:pt x="0" y="201990"/>
                    </a:cubicBezTo>
                    <a:lnTo>
                      <a:pt x="0" y="9124"/>
                    </a:lnTo>
                    <a:cubicBezTo>
                      <a:pt x="0" y="6704"/>
                      <a:pt x="961" y="4383"/>
                      <a:pt x="2672" y="2672"/>
                    </a:cubicBezTo>
                    <a:cubicBezTo>
                      <a:pt x="4383" y="961"/>
                      <a:pt x="6704" y="0"/>
                      <a:pt x="9124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646780" cy="2587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844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3479" y="46507"/>
              <a:ext cx="6574878" cy="691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3"/>
                </a:lnSpc>
                <a:spcBef>
                  <a:spcPct val="0"/>
                </a:spcBef>
              </a:pPr>
              <a:r>
                <a:rPr lang="en-US" sz="2995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¿QUÉ </a:t>
              </a:r>
              <a:r>
                <a:rPr lang="en-US" sz="2995" strike="noStrike" u="none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COSAS PUEDE HACER REQVIEW?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448753" y="334067"/>
            <a:ext cx="1564609" cy="1601553"/>
          </a:xfrm>
          <a:custGeom>
            <a:avLst/>
            <a:gdLst/>
            <a:ahLst/>
            <a:cxnLst/>
            <a:rect r="r" b="b" t="t" l="l"/>
            <a:pathLst>
              <a:path h="1601553" w="1564609">
                <a:moveTo>
                  <a:pt x="0" y="0"/>
                </a:moveTo>
                <a:lnTo>
                  <a:pt x="1564609" y="0"/>
                </a:lnTo>
                <a:lnTo>
                  <a:pt x="1564609" y="1601553"/>
                </a:lnTo>
                <a:lnTo>
                  <a:pt x="0" y="160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563" t="-9089" r="-65597" b="-844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4637" y="3621550"/>
            <a:ext cx="8106296" cy="6181051"/>
          </a:xfrm>
          <a:custGeom>
            <a:avLst/>
            <a:gdLst/>
            <a:ahLst/>
            <a:cxnLst/>
            <a:rect r="r" b="b" t="t" l="l"/>
            <a:pathLst>
              <a:path h="6181051" w="8106296">
                <a:moveTo>
                  <a:pt x="0" y="0"/>
                </a:moveTo>
                <a:lnTo>
                  <a:pt x="8106296" y="0"/>
                </a:lnTo>
                <a:lnTo>
                  <a:pt x="8106296" y="6181051"/>
                </a:lnTo>
                <a:lnTo>
                  <a:pt x="0" y="6181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8317" y="849379"/>
            <a:ext cx="12795958" cy="231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76"/>
              </a:lnSpc>
            </a:pPr>
            <a:r>
              <a:rPr lang="en-US" sz="9133" spc="465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RELAC</a:t>
            </a:r>
            <a:r>
              <a:rPr lang="en-US" sz="9133" spc="465" strike="noStrike" u="none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IÓN CON INGENIERÍA DE REQUERIMIENTOS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53980" y="6025755"/>
            <a:ext cx="8420591" cy="141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90"/>
              </a:lnSpc>
              <a:spcBef>
                <a:spcPct val="0"/>
              </a:spcBef>
            </a:pPr>
            <a:r>
              <a:rPr lang="en-US" sz="2707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En Ing</a:t>
            </a:r>
            <a:r>
              <a:rPr lang="en-US" sz="2707" strike="noStrike" u="none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eniería de Requerimientos, ReqView  ayuda a documentar, clasificar, validar y seguir requisitos, sin reemplazar al analista.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89298" y="3732819"/>
            <a:ext cx="14109404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F</a:t>
            </a:r>
            <a:r>
              <a:rPr lang="en-US" sz="108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UNCIONALIDADES PRINCIPALES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10756" y="8114173"/>
            <a:ext cx="1995146" cy="1987474"/>
          </a:xfrm>
          <a:custGeom>
            <a:avLst/>
            <a:gdLst/>
            <a:ahLst/>
            <a:cxnLst/>
            <a:rect r="r" b="b" t="t" l="l"/>
            <a:pathLst>
              <a:path h="1987474" w="1995146">
                <a:moveTo>
                  <a:pt x="0" y="0"/>
                </a:moveTo>
                <a:lnTo>
                  <a:pt x="1995146" y="0"/>
                </a:lnTo>
                <a:lnTo>
                  <a:pt x="1995146" y="1987474"/>
                </a:lnTo>
                <a:lnTo>
                  <a:pt x="0" y="1987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9298" y="5656990"/>
            <a:ext cx="14109404" cy="88184"/>
          </a:xfrm>
          <a:custGeom>
            <a:avLst/>
            <a:gdLst/>
            <a:ahLst/>
            <a:cxnLst/>
            <a:rect r="r" b="b" t="t" l="l"/>
            <a:pathLst>
              <a:path h="88184" w="14109404">
                <a:moveTo>
                  <a:pt x="0" y="0"/>
                </a:moveTo>
                <a:lnTo>
                  <a:pt x="14109404" y="0"/>
                </a:lnTo>
                <a:lnTo>
                  <a:pt x="14109404" y="88183"/>
                </a:lnTo>
                <a:lnTo>
                  <a:pt x="0" y="88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3454" y="2942547"/>
            <a:ext cx="1816775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10747" y="6093854"/>
            <a:ext cx="17175714" cy="18802"/>
          </a:xfrm>
          <a:prstGeom prst="line">
            <a:avLst/>
          </a:prstGeom>
          <a:ln cap="flat" w="57150">
            <a:solidFill>
              <a:srgbClr val="FF99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45164" y="5194662"/>
            <a:ext cx="1992314" cy="199231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5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4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689097" y="6017214"/>
            <a:ext cx="190885" cy="19088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95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4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-2208171" y="8663474"/>
            <a:ext cx="4971660" cy="1500978"/>
          </a:xfrm>
          <a:custGeom>
            <a:avLst/>
            <a:gdLst/>
            <a:ahLst/>
            <a:cxnLst/>
            <a:rect r="r" b="b" t="t" l="l"/>
            <a:pathLst>
              <a:path h="1500978" w="4971660">
                <a:moveTo>
                  <a:pt x="0" y="1500978"/>
                </a:moveTo>
                <a:lnTo>
                  <a:pt x="4971660" y="1500978"/>
                </a:lnTo>
                <a:lnTo>
                  <a:pt x="4971660" y="0"/>
                </a:lnTo>
                <a:lnTo>
                  <a:pt x="0" y="0"/>
                </a:lnTo>
                <a:lnTo>
                  <a:pt x="0" y="1500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9135" y="4695866"/>
            <a:ext cx="2549970" cy="2642696"/>
          </a:xfrm>
          <a:custGeom>
            <a:avLst/>
            <a:gdLst/>
            <a:ahLst/>
            <a:cxnLst/>
            <a:rect r="r" b="b" t="t" l="l"/>
            <a:pathLst>
              <a:path h="2642696" w="2549970">
                <a:moveTo>
                  <a:pt x="0" y="0"/>
                </a:moveTo>
                <a:lnTo>
                  <a:pt x="2549970" y="0"/>
                </a:lnTo>
                <a:lnTo>
                  <a:pt x="2549970" y="2642695"/>
                </a:lnTo>
                <a:lnTo>
                  <a:pt x="0" y="2642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07755" y="5489578"/>
            <a:ext cx="5550241" cy="1402480"/>
          </a:xfrm>
          <a:custGeom>
            <a:avLst/>
            <a:gdLst/>
            <a:ahLst/>
            <a:cxnLst/>
            <a:rect r="r" b="b" t="t" l="l"/>
            <a:pathLst>
              <a:path h="1402480" w="5550241">
                <a:moveTo>
                  <a:pt x="0" y="0"/>
                </a:moveTo>
                <a:lnTo>
                  <a:pt x="5550241" y="0"/>
                </a:lnTo>
                <a:lnTo>
                  <a:pt x="5550241" y="1402481"/>
                </a:lnTo>
                <a:lnTo>
                  <a:pt x="0" y="1402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26646" y="4751167"/>
            <a:ext cx="3221792" cy="2532093"/>
          </a:xfrm>
          <a:custGeom>
            <a:avLst/>
            <a:gdLst/>
            <a:ahLst/>
            <a:cxnLst/>
            <a:rect r="r" b="b" t="t" l="l"/>
            <a:pathLst>
              <a:path h="2532093" w="3221792">
                <a:moveTo>
                  <a:pt x="0" y="0"/>
                </a:moveTo>
                <a:lnTo>
                  <a:pt x="3221792" y="0"/>
                </a:lnTo>
                <a:lnTo>
                  <a:pt x="3221792" y="2532093"/>
                </a:lnTo>
                <a:lnTo>
                  <a:pt x="0" y="25320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918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14601" y="4422747"/>
            <a:ext cx="2015206" cy="3381576"/>
          </a:xfrm>
          <a:custGeom>
            <a:avLst/>
            <a:gdLst/>
            <a:ahLst/>
            <a:cxnLst/>
            <a:rect r="r" b="b" t="t" l="l"/>
            <a:pathLst>
              <a:path h="3381576" w="2015206">
                <a:moveTo>
                  <a:pt x="0" y="0"/>
                </a:moveTo>
                <a:lnTo>
                  <a:pt x="2015206" y="0"/>
                </a:lnTo>
                <a:lnTo>
                  <a:pt x="2015206" y="3381577"/>
                </a:lnTo>
                <a:lnTo>
                  <a:pt x="0" y="3381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7470" y="416973"/>
            <a:ext cx="9552348" cy="268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6"/>
              </a:lnSpc>
            </a:pPr>
            <a:r>
              <a:rPr lang="en-US" sz="10532" spc="537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F</a:t>
            </a:r>
            <a:r>
              <a:rPr lang="en-US" sz="10532" spc="537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UNCIONALIDADES PRINCIPALES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6049" y="7278380"/>
            <a:ext cx="2613056" cy="9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7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Documentos estructurados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25522" y="7060267"/>
            <a:ext cx="3714706" cy="48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7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Obje</a:t>
            </a:r>
            <a:r>
              <a:rPr lang="en-US" b="true" sz="2837" strike="noStrike" u="none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tos de requisito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5206" y="7393653"/>
            <a:ext cx="3524671" cy="9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7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Atribu</a:t>
            </a:r>
            <a:r>
              <a:rPr lang="en-US" b="true" sz="2837" strike="noStrike" u="none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tos personalizados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59868" y="7919586"/>
            <a:ext cx="3524671" cy="48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1"/>
              </a:lnSpc>
              <a:spcBef>
                <a:spcPct val="0"/>
              </a:spcBef>
            </a:pPr>
            <a:r>
              <a:rPr lang="en-US" b="true" sz="2837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His</a:t>
            </a:r>
            <a:r>
              <a:rPr lang="en-US" b="true" sz="2837" strike="noStrike" u="none">
                <a:solidFill>
                  <a:srgbClr val="191919"/>
                </a:solidFill>
                <a:latin typeface="Blacker Sans Pro Bold"/>
                <a:ea typeface="Blacker Sans Pro Bold"/>
                <a:cs typeface="Blacker Sans Pro Bold"/>
                <a:sym typeface="Blacker Sans Pro Bold"/>
              </a:rPr>
              <a:t>torial de cambios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14539" y="3574530"/>
            <a:ext cx="5384114" cy="652689"/>
            <a:chOff x="0" y="0"/>
            <a:chExt cx="7178818" cy="87025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001837" cy="870252"/>
              <a:chOff x="0" y="0"/>
              <a:chExt cx="1698568" cy="21111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698568" cy="211113"/>
              </a:xfrm>
              <a:custGeom>
                <a:avLst/>
                <a:gdLst/>
                <a:ahLst/>
                <a:cxnLst/>
                <a:rect r="r" b="b" t="t" l="l"/>
                <a:pathLst>
                  <a:path h="211113" w="1698568">
                    <a:moveTo>
                      <a:pt x="8846" y="0"/>
                    </a:moveTo>
                    <a:lnTo>
                      <a:pt x="1689722" y="0"/>
                    </a:lnTo>
                    <a:cubicBezTo>
                      <a:pt x="1694607" y="0"/>
                      <a:pt x="1698568" y="3960"/>
                      <a:pt x="1698568" y="8846"/>
                    </a:cubicBezTo>
                    <a:lnTo>
                      <a:pt x="1698568" y="202268"/>
                    </a:lnTo>
                    <a:cubicBezTo>
                      <a:pt x="1698568" y="207153"/>
                      <a:pt x="1694607" y="211113"/>
                      <a:pt x="1689722" y="211113"/>
                    </a:cubicBezTo>
                    <a:lnTo>
                      <a:pt x="8846" y="211113"/>
                    </a:lnTo>
                    <a:cubicBezTo>
                      <a:pt x="3960" y="211113"/>
                      <a:pt x="0" y="207153"/>
                      <a:pt x="0" y="202268"/>
                    </a:cubicBezTo>
                    <a:lnTo>
                      <a:pt x="0" y="8846"/>
                    </a:lnTo>
                    <a:cubicBezTo>
                      <a:pt x="0" y="3960"/>
                      <a:pt x="3960" y="0"/>
                      <a:pt x="8846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698568" cy="2587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844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908242" y="46507"/>
              <a:ext cx="6270576" cy="691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3"/>
                </a:lnSpc>
                <a:spcBef>
                  <a:spcPct val="0"/>
                </a:spcBef>
              </a:pPr>
              <a:r>
                <a:rPr lang="en-US" sz="2995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¿QUÉ </a:t>
              </a:r>
              <a:r>
                <a:rPr lang="en-US" sz="2995" strike="noStrike" u="none">
                  <a:solidFill>
                    <a:srgbClr val="191919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COSAS PUEDE HACER REQVIEW?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022204" y="0"/>
            <a:ext cx="2265796" cy="2319296"/>
          </a:xfrm>
          <a:custGeom>
            <a:avLst/>
            <a:gdLst/>
            <a:ahLst/>
            <a:cxnLst/>
            <a:rect r="r" b="b" t="t" l="l"/>
            <a:pathLst>
              <a:path h="2319296" w="2265796">
                <a:moveTo>
                  <a:pt x="0" y="0"/>
                </a:moveTo>
                <a:lnTo>
                  <a:pt x="2265796" y="0"/>
                </a:lnTo>
                <a:lnTo>
                  <a:pt x="2265796" y="2319296"/>
                </a:lnTo>
                <a:lnTo>
                  <a:pt x="0" y="2319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3563" t="-9089" r="-65597" b="-844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7640" y="3732819"/>
            <a:ext cx="11632719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ESTRUCT</a:t>
            </a:r>
            <a:r>
              <a:rPr lang="en-US" sz="108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URA DE TRABAJO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858" y="8145155"/>
            <a:ext cx="1964044" cy="1956491"/>
          </a:xfrm>
          <a:custGeom>
            <a:avLst/>
            <a:gdLst/>
            <a:ahLst/>
            <a:cxnLst/>
            <a:rect r="r" b="b" t="t" l="l"/>
            <a:pathLst>
              <a:path h="1956491" w="1964044">
                <a:moveTo>
                  <a:pt x="0" y="0"/>
                </a:moveTo>
                <a:lnTo>
                  <a:pt x="1964044" y="0"/>
                </a:lnTo>
                <a:lnTo>
                  <a:pt x="1964044" y="1956492"/>
                </a:lnTo>
                <a:lnTo>
                  <a:pt x="0" y="1956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27640" y="5665765"/>
            <a:ext cx="11466989" cy="71669"/>
          </a:xfrm>
          <a:custGeom>
            <a:avLst/>
            <a:gdLst/>
            <a:ahLst/>
            <a:cxnLst/>
            <a:rect r="r" b="b" t="t" l="l"/>
            <a:pathLst>
              <a:path h="71669" w="11466989">
                <a:moveTo>
                  <a:pt x="0" y="0"/>
                </a:moveTo>
                <a:lnTo>
                  <a:pt x="11466989" y="0"/>
                </a:lnTo>
                <a:lnTo>
                  <a:pt x="11466989" y="71669"/>
                </a:lnTo>
                <a:lnTo>
                  <a:pt x="0" y="71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9942" y="2942547"/>
            <a:ext cx="1823799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314233" y="-3867586"/>
            <a:ext cx="18871222" cy="19436652"/>
          </a:xfrm>
          <a:custGeom>
            <a:avLst/>
            <a:gdLst/>
            <a:ahLst/>
            <a:cxnLst/>
            <a:rect r="r" b="b" t="t" l="l"/>
            <a:pathLst>
              <a:path h="19436652" w="18871222">
                <a:moveTo>
                  <a:pt x="0" y="0"/>
                </a:moveTo>
                <a:lnTo>
                  <a:pt x="18871222" y="0"/>
                </a:lnTo>
                <a:lnTo>
                  <a:pt x="18871222" y="19436652"/>
                </a:lnTo>
                <a:lnTo>
                  <a:pt x="0" y="19436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685447"/>
            <a:ext cx="1564609" cy="1601553"/>
          </a:xfrm>
          <a:custGeom>
            <a:avLst/>
            <a:gdLst/>
            <a:ahLst/>
            <a:cxnLst/>
            <a:rect r="r" b="b" t="t" l="l"/>
            <a:pathLst>
              <a:path h="1601553" w="1564609">
                <a:moveTo>
                  <a:pt x="0" y="0"/>
                </a:moveTo>
                <a:lnTo>
                  <a:pt x="1564609" y="0"/>
                </a:lnTo>
                <a:lnTo>
                  <a:pt x="1564609" y="1601553"/>
                </a:lnTo>
                <a:lnTo>
                  <a:pt x="0" y="1601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563" t="-9089" r="-65597" b="-84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30792" y="4797383"/>
            <a:ext cx="9026416" cy="5291270"/>
          </a:xfrm>
          <a:custGeom>
            <a:avLst/>
            <a:gdLst/>
            <a:ahLst/>
            <a:cxnLst/>
            <a:rect r="r" b="b" t="t" l="l"/>
            <a:pathLst>
              <a:path h="5291270" w="9026416">
                <a:moveTo>
                  <a:pt x="0" y="0"/>
                </a:moveTo>
                <a:lnTo>
                  <a:pt x="9026416" y="0"/>
                </a:lnTo>
                <a:lnTo>
                  <a:pt x="9026416" y="5291270"/>
                </a:lnTo>
                <a:lnTo>
                  <a:pt x="0" y="5291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309" r="0" b="-330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30792" y="2301923"/>
            <a:ext cx="8714750" cy="729011"/>
            <a:chOff x="0" y="0"/>
            <a:chExt cx="11619667" cy="9720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619667" cy="972014"/>
              <a:chOff x="0" y="0"/>
              <a:chExt cx="3067449" cy="2566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67450" cy="256600"/>
              </a:xfrm>
              <a:custGeom>
                <a:avLst/>
                <a:gdLst/>
                <a:ahLst/>
                <a:cxnLst/>
                <a:rect r="r" b="b" t="t" l="l"/>
                <a:pathLst>
                  <a:path h="256600" w="3067450">
                    <a:moveTo>
                      <a:pt x="5330" y="0"/>
                    </a:moveTo>
                    <a:lnTo>
                      <a:pt x="3062119" y="0"/>
                    </a:lnTo>
                    <a:cubicBezTo>
                      <a:pt x="3065063" y="0"/>
                      <a:pt x="3067450" y="2386"/>
                      <a:pt x="3067450" y="5330"/>
                    </a:cubicBezTo>
                    <a:lnTo>
                      <a:pt x="3067450" y="251270"/>
                    </a:lnTo>
                    <a:cubicBezTo>
                      <a:pt x="3067450" y="252683"/>
                      <a:pt x="3066888" y="254039"/>
                      <a:pt x="3065888" y="255039"/>
                    </a:cubicBezTo>
                    <a:cubicBezTo>
                      <a:pt x="3064889" y="256038"/>
                      <a:pt x="3063533" y="256600"/>
                      <a:pt x="3062119" y="256600"/>
                    </a:cubicBezTo>
                    <a:lnTo>
                      <a:pt x="5330" y="256600"/>
                    </a:lnTo>
                    <a:cubicBezTo>
                      <a:pt x="2386" y="256600"/>
                      <a:pt x="0" y="254213"/>
                      <a:pt x="0" y="251270"/>
                    </a:cubicBezTo>
                    <a:lnTo>
                      <a:pt x="0" y="5330"/>
                    </a:lnTo>
                    <a:cubicBezTo>
                      <a:pt x="0" y="3917"/>
                      <a:pt x="562" y="2561"/>
                      <a:pt x="1561" y="1561"/>
                    </a:cubicBezTo>
                    <a:cubicBezTo>
                      <a:pt x="2561" y="562"/>
                      <a:pt x="3917" y="0"/>
                      <a:pt x="5330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3067449" cy="30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24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90732" y="15570"/>
              <a:ext cx="11263556" cy="845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5"/>
                </a:lnSpc>
              </a:pPr>
              <a:r>
                <a:rPr lang="en-US" sz="3718">
                  <a:solidFill>
                    <a:srgbClr val="000000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¿CÓMO ORGANIZA REQVIEW EL PROYECTO POR DENTRO?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164421"/>
            <a:ext cx="16230600" cy="148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R</a:t>
            </a:r>
            <a:r>
              <a:rPr lang="en-US" sz="2460" strike="noStrike" u="none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eqView organiza el trabajo mediante una estructura jerárquica: proyecto, documento y objetos.</a:t>
            </a:r>
          </a:p>
          <a:p>
            <a:pPr algn="l" marL="0" indent="0" lvl="0">
              <a:lnSpc>
                <a:spcPts val="162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 strike="noStrike" u="none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Esto permite construir una ERS desde cero, ordenando necesidades, requisitos y pruebas dentro de un mismo repositorio.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8425" y="625443"/>
            <a:ext cx="14905496" cy="152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65"/>
              </a:lnSpc>
              <a:spcBef>
                <a:spcPct val="0"/>
              </a:spcBef>
            </a:pPr>
            <a:r>
              <a:rPr lang="en-US" sz="11332" spc="577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EST</a:t>
            </a:r>
            <a:r>
              <a:rPr lang="en-US" sz="11332" spc="577" strike="noStrike" u="none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RUCTURA DE TRABAJO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5001" y="3803452"/>
            <a:ext cx="11657999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V</a:t>
            </a:r>
            <a:r>
              <a:rPr lang="en-US" sz="108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ENTAJAS Y LIMITACIONES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742" y="8145040"/>
            <a:ext cx="1964160" cy="1956607"/>
          </a:xfrm>
          <a:custGeom>
            <a:avLst/>
            <a:gdLst/>
            <a:ahLst/>
            <a:cxnLst/>
            <a:rect r="r" b="b" t="t" l="l"/>
            <a:pathLst>
              <a:path h="1956607" w="1964160">
                <a:moveTo>
                  <a:pt x="0" y="0"/>
                </a:moveTo>
                <a:lnTo>
                  <a:pt x="1964160" y="0"/>
                </a:lnTo>
                <a:lnTo>
                  <a:pt x="1964160" y="1956607"/>
                </a:lnTo>
                <a:lnTo>
                  <a:pt x="0" y="195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665765"/>
            <a:ext cx="11301259" cy="70633"/>
          </a:xfrm>
          <a:custGeom>
            <a:avLst/>
            <a:gdLst/>
            <a:ahLst/>
            <a:cxnLst/>
            <a:rect r="r" b="b" t="t" l="l"/>
            <a:pathLst>
              <a:path h="70633" w="11301259">
                <a:moveTo>
                  <a:pt x="0" y="0"/>
                </a:moveTo>
                <a:lnTo>
                  <a:pt x="11301258" y="0"/>
                </a:lnTo>
                <a:lnTo>
                  <a:pt x="11301258" y="70633"/>
                </a:lnTo>
                <a:lnTo>
                  <a:pt x="0" y="70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3573" y="2942547"/>
            <a:ext cx="1816537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6395" y="173958"/>
            <a:ext cx="17847022" cy="9959098"/>
            <a:chOff x="0" y="0"/>
            <a:chExt cx="4700450" cy="2622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0450" cy="2622972"/>
            </a:xfrm>
            <a:custGeom>
              <a:avLst/>
              <a:gdLst/>
              <a:ahLst/>
              <a:cxnLst/>
              <a:rect r="r" b="b" t="t" l="l"/>
              <a:pathLst>
                <a:path h="2622972" w="4700450">
                  <a:moveTo>
                    <a:pt x="0" y="0"/>
                  </a:moveTo>
                  <a:lnTo>
                    <a:pt x="4700450" y="0"/>
                  </a:lnTo>
                  <a:lnTo>
                    <a:pt x="4700450" y="2622972"/>
                  </a:lnTo>
                  <a:lnTo>
                    <a:pt x="0" y="2622972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700450" cy="2670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691812" y="-6485644"/>
            <a:ext cx="9307678" cy="9586560"/>
          </a:xfrm>
          <a:custGeom>
            <a:avLst/>
            <a:gdLst/>
            <a:ahLst/>
            <a:cxnLst/>
            <a:rect r="r" b="b" t="t" l="l"/>
            <a:pathLst>
              <a:path h="9586560" w="9307678">
                <a:moveTo>
                  <a:pt x="0" y="0"/>
                </a:moveTo>
                <a:lnTo>
                  <a:pt x="9307678" y="0"/>
                </a:lnTo>
                <a:lnTo>
                  <a:pt x="9307678" y="9586560"/>
                </a:lnTo>
                <a:lnTo>
                  <a:pt x="0" y="9586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96559" y="3681136"/>
            <a:ext cx="1885508" cy="698757"/>
            <a:chOff x="0" y="0"/>
            <a:chExt cx="2514010" cy="9316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514010" cy="931676"/>
              <a:chOff x="0" y="0"/>
              <a:chExt cx="663668" cy="2459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3668" cy="245951"/>
              </a:xfrm>
              <a:custGeom>
                <a:avLst/>
                <a:gdLst/>
                <a:ahLst/>
                <a:cxnLst/>
                <a:rect r="r" b="b" t="t" l="l"/>
                <a:pathLst>
                  <a:path h="245951" w="663668">
                    <a:moveTo>
                      <a:pt x="24636" y="0"/>
                    </a:moveTo>
                    <a:lnTo>
                      <a:pt x="639032" y="0"/>
                    </a:lnTo>
                    <a:cubicBezTo>
                      <a:pt x="652638" y="0"/>
                      <a:pt x="663668" y="11030"/>
                      <a:pt x="663668" y="24636"/>
                    </a:cubicBezTo>
                    <a:lnTo>
                      <a:pt x="663668" y="221315"/>
                    </a:lnTo>
                    <a:cubicBezTo>
                      <a:pt x="663668" y="234921"/>
                      <a:pt x="652638" y="245951"/>
                      <a:pt x="639032" y="245951"/>
                    </a:cubicBezTo>
                    <a:lnTo>
                      <a:pt x="24636" y="245951"/>
                    </a:lnTo>
                    <a:cubicBezTo>
                      <a:pt x="18102" y="245951"/>
                      <a:pt x="11836" y="243355"/>
                      <a:pt x="7216" y="238735"/>
                    </a:cubicBezTo>
                    <a:cubicBezTo>
                      <a:pt x="2596" y="234115"/>
                      <a:pt x="0" y="227849"/>
                      <a:pt x="0" y="221315"/>
                    </a:cubicBezTo>
                    <a:lnTo>
                      <a:pt x="0" y="24636"/>
                    </a:lnTo>
                    <a:cubicBezTo>
                      <a:pt x="0" y="11030"/>
                      <a:pt x="11030" y="0"/>
                      <a:pt x="24636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63668" cy="2935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84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82715" y="15570"/>
              <a:ext cx="2069747" cy="805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25"/>
                </a:lnSpc>
              </a:pPr>
              <a:r>
                <a:rPr lang="en-US" sz="3518">
                  <a:solidFill>
                    <a:srgbClr val="000000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VENTAJAS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5890" y="6715272"/>
            <a:ext cx="2440754" cy="615642"/>
            <a:chOff x="0" y="0"/>
            <a:chExt cx="3254338" cy="82085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254338" cy="820856"/>
              <a:chOff x="0" y="0"/>
              <a:chExt cx="859105" cy="2166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9105" cy="216696"/>
              </a:xfrm>
              <a:custGeom>
                <a:avLst/>
                <a:gdLst/>
                <a:ahLst/>
                <a:cxnLst/>
                <a:rect r="r" b="b" t="t" l="l"/>
                <a:pathLst>
                  <a:path h="216696" w="859105">
                    <a:moveTo>
                      <a:pt x="19032" y="0"/>
                    </a:moveTo>
                    <a:lnTo>
                      <a:pt x="840074" y="0"/>
                    </a:lnTo>
                    <a:cubicBezTo>
                      <a:pt x="845121" y="0"/>
                      <a:pt x="849962" y="2005"/>
                      <a:pt x="853531" y="5574"/>
                    </a:cubicBezTo>
                    <a:cubicBezTo>
                      <a:pt x="857100" y="9143"/>
                      <a:pt x="859105" y="13984"/>
                      <a:pt x="859105" y="19032"/>
                    </a:cubicBezTo>
                    <a:lnTo>
                      <a:pt x="859105" y="197664"/>
                    </a:lnTo>
                    <a:cubicBezTo>
                      <a:pt x="859105" y="208175"/>
                      <a:pt x="850585" y="216696"/>
                      <a:pt x="840074" y="216696"/>
                    </a:cubicBezTo>
                    <a:lnTo>
                      <a:pt x="19032" y="216696"/>
                    </a:lnTo>
                    <a:cubicBezTo>
                      <a:pt x="8521" y="216696"/>
                      <a:pt x="0" y="208175"/>
                      <a:pt x="0" y="197664"/>
                    </a:cubicBezTo>
                    <a:lnTo>
                      <a:pt x="0" y="19032"/>
                    </a:lnTo>
                    <a:cubicBezTo>
                      <a:pt x="0" y="8521"/>
                      <a:pt x="8521" y="0"/>
                      <a:pt x="19032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859105" cy="264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844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0440" y="-39840"/>
              <a:ext cx="2713459" cy="805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25"/>
                </a:lnSpc>
              </a:pPr>
              <a:r>
                <a:rPr lang="en-US" sz="3518">
                  <a:solidFill>
                    <a:srgbClr val="000000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LIMITACIONES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85745" y="3100916"/>
            <a:ext cx="2709437" cy="2807962"/>
          </a:xfrm>
          <a:custGeom>
            <a:avLst/>
            <a:gdLst/>
            <a:ahLst/>
            <a:cxnLst/>
            <a:rect r="r" b="b" t="t" l="l"/>
            <a:pathLst>
              <a:path h="2807962" w="2709437">
                <a:moveTo>
                  <a:pt x="0" y="0"/>
                </a:moveTo>
                <a:lnTo>
                  <a:pt x="2709437" y="0"/>
                </a:lnTo>
                <a:lnTo>
                  <a:pt x="2709437" y="2807962"/>
                </a:lnTo>
                <a:lnTo>
                  <a:pt x="0" y="2807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88276" y="3926090"/>
            <a:ext cx="3648924" cy="5578364"/>
          </a:xfrm>
          <a:custGeom>
            <a:avLst/>
            <a:gdLst/>
            <a:ahLst/>
            <a:cxnLst/>
            <a:rect r="r" b="b" t="t" l="l"/>
            <a:pathLst>
              <a:path h="5578364" w="3648924">
                <a:moveTo>
                  <a:pt x="0" y="0"/>
                </a:moveTo>
                <a:lnTo>
                  <a:pt x="3648924" y="0"/>
                </a:lnTo>
                <a:lnTo>
                  <a:pt x="3648924" y="5578364"/>
                </a:lnTo>
                <a:lnTo>
                  <a:pt x="0" y="5578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46" t="0" r="-2446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709729" y="6443794"/>
            <a:ext cx="3259168" cy="2814506"/>
          </a:xfrm>
          <a:custGeom>
            <a:avLst/>
            <a:gdLst/>
            <a:ahLst/>
            <a:cxnLst/>
            <a:rect r="r" b="b" t="t" l="l"/>
            <a:pathLst>
              <a:path h="2814506" w="3259168">
                <a:moveTo>
                  <a:pt x="0" y="0"/>
                </a:moveTo>
                <a:lnTo>
                  <a:pt x="3259168" y="0"/>
                </a:lnTo>
                <a:lnTo>
                  <a:pt x="3259168" y="2814506"/>
                </a:lnTo>
                <a:lnTo>
                  <a:pt x="0" y="28145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454672" y="3351693"/>
            <a:ext cx="3511520" cy="2470556"/>
          </a:xfrm>
          <a:custGeom>
            <a:avLst/>
            <a:gdLst/>
            <a:ahLst/>
            <a:cxnLst/>
            <a:rect r="r" b="b" t="t" l="l"/>
            <a:pathLst>
              <a:path h="2470556" w="3511520">
                <a:moveTo>
                  <a:pt x="0" y="0"/>
                </a:moveTo>
                <a:lnTo>
                  <a:pt x="3511520" y="0"/>
                </a:lnTo>
                <a:lnTo>
                  <a:pt x="3511520" y="2470556"/>
                </a:lnTo>
                <a:lnTo>
                  <a:pt x="0" y="24705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79530" y="4539346"/>
            <a:ext cx="3289367" cy="136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Orden y trazabilidad.</a:t>
            </a:r>
          </a:p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Atributos y filtros.</a:t>
            </a:r>
          </a:p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Historial de cambios.</a:t>
            </a:r>
          </a:p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Exportación de reportes.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5745" y="797876"/>
            <a:ext cx="12966304" cy="1372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1"/>
              </a:lnSpc>
              <a:spcBef>
                <a:spcPct val="0"/>
              </a:spcBef>
            </a:pPr>
            <a:r>
              <a:rPr lang="en-US" sz="10232" spc="521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V</a:t>
            </a:r>
            <a:r>
              <a:rPr lang="en-US" sz="10232" spc="521" strike="noStrike" u="none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ENTAJAS Y LIMITACIONES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3794" y="7461120"/>
            <a:ext cx="4044822" cy="136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Funciones avanzadas de pago.</a:t>
            </a:r>
          </a:p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Plantillas limitadas.</a:t>
            </a:r>
          </a:p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Configuración manual.</a:t>
            </a:r>
          </a:p>
          <a:p>
            <a:pPr algn="l" marL="422391" indent="-211196" lvl="1">
              <a:lnSpc>
                <a:spcPts val="2738"/>
              </a:lnSpc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No corrige malos requisitos.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46395" y="8531503"/>
            <a:ext cx="1564609" cy="1601553"/>
          </a:xfrm>
          <a:custGeom>
            <a:avLst/>
            <a:gdLst/>
            <a:ahLst/>
            <a:cxnLst/>
            <a:rect r="r" b="b" t="t" l="l"/>
            <a:pathLst>
              <a:path h="1601553" w="1564609">
                <a:moveTo>
                  <a:pt x="0" y="0"/>
                </a:moveTo>
                <a:lnTo>
                  <a:pt x="1564610" y="0"/>
                </a:lnTo>
                <a:lnTo>
                  <a:pt x="1564610" y="1601553"/>
                </a:lnTo>
                <a:lnTo>
                  <a:pt x="0" y="16015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3563" t="-9089" r="-65597" b="-8445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120420" y="334067"/>
            <a:ext cx="1836450" cy="1836450"/>
          </a:xfrm>
          <a:custGeom>
            <a:avLst/>
            <a:gdLst/>
            <a:ahLst/>
            <a:cxnLst/>
            <a:rect r="r" b="b" t="t" l="l"/>
            <a:pathLst>
              <a:path h="1836450" w="1836450">
                <a:moveTo>
                  <a:pt x="0" y="0"/>
                </a:moveTo>
                <a:lnTo>
                  <a:pt x="1836450" y="0"/>
                </a:lnTo>
                <a:lnTo>
                  <a:pt x="1836450" y="1836450"/>
                </a:lnTo>
                <a:lnTo>
                  <a:pt x="0" y="18364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6207" y="3985631"/>
            <a:ext cx="15433093" cy="18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699"/>
              </a:lnSpc>
              <a:spcBef>
                <a:spcPct val="0"/>
              </a:spcBef>
            </a:pPr>
            <a:r>
              <a:rPr lang="en-US" sz="104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COMPARATIVA DE FUNCIONALIDADES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742" y="8145040"/>
            <a:ext cx="1964160" cy="1956607"/>
          </a:xfrm>
          <a:custGeom>
            <a:avLst/>
            <a:gdLst/>
            <a:ahLst/>
            <a:cxnLst/>
            <a:rect r="r" b="b" t="t" l="l"/>
            <a:pathLst>
              <a:path h="1956607" w="1964160">
                <a:moveTo>
                  <a:pt x="0" y="0"/>
                </a:moveTo>
                <a:lnTo>
                  <a:pt x="1964160" y="0"/>
                </a:lnTo>
                <a:lnTo>
                  <a:pt x="1964160" y="1956607"/>
                </a:lnTo>
                <a:lnTo>
                  <a:pt x="0" y="195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1842" y="5784387"/>
            <a:ext cx="15161981" cy="94762"/>
          </a:xfrm>
          <a:custGeom>
            <a:avLst/>
            <a:gdLst/>
            <a:ahLst/>
            <a:cxnLst/>
            <a:rect r="r" b="b" t="t" l="l"/>
            <a:pathLst>
              <a:path h="94762" w="15161981">
                <a:moveTo>
                  <a:pt x="0" y="0"/>
                </a:moveTo>
                <a:lnTo>
                  <a:pt x="15161980" y="0"/>
                </a:lnTo>
                <a:lnTo>
                  <a:pt x="15161980" y="94762"/>
                </a:lnTo>
                <a:lnTo>
                  <a:pt x="0" y="94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4466" y="2942547"/>
            <a:ext cx="1814751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46381" y="8953411"/>
            <a:ext cx="4255978" cy="1284908"/>
          </a:xfrm>
          <a:custGeom>
            <a:avLst/>
            <a:gdLst/>
            <a:ahLst/>
            <a:cxnLst/>
            <a:rect r="r" b="b" t="t" l="l"/>
            <a:pathLst>
              <a:path h="1284908" w="4255978">
                <a:moveTo>
                  <a:pt x="0" y="1284908"/>
                </a:moveTo>
                <a:lnTo>
                  <a:pt x="4255978" y="1284908"/>
                </a:lnTo>
                <a:lnTo>
                  <a:pt x="4255978" y="0"/>
                </a:lnTo>
                <a:lnTo>
                  <a:pt x="0" y="0"/>
                </a:lnTo>
                <a:lnTo>
                  <a:pt x="0" y="128490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56846" y="0"/>
            <a:ext cx="1831154" cy="1874391"/>
          </a:xfrm>
          <a:custGeom>
            <a:avLst/>
            <a:gdLst/>
            <a:ahLst/>
            <a:cxnLst/>
            <a:rect r="r" b="b" t="t" l="l"/>
            <a:pathLst>
              <a:path h="1874391" w="1831154">
                <a:moveTo>
                  <a:pt x="0" y="0"/>
                </a:moveTo>
                <a:lnTo>
                  <a:pt x="1831154" y="0"/>
                </a:lnTo>
                <a:lnTo>
                  <a:pt x="1831154" y="1874391"/>
                </a:lnTo>
                <a:lnTo>
                  <a:pt x="0" y="1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563" t="-9089" r="-65597" b="-8445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1709597" y="2052065"/>
          <a:ext cx="7543800" cy="7543800"/>
        </p:xfrm>
        <a:graphic>
          <a:graphicData uri="http://schemas.openxmlformats.org/presentationml/2006/ole">
            <p:oleObj imgW="9042400" imgH="90424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77659" y="397923"/>
            <a:ext cx="15463221" cy="12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66"/>
              </a:lnSpc>
            </a:pPr>
            <a:r>
              <a:rPr lang="en-US" sz="9333" spc="475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COMPARATIVA DE FUNCIONALIDADES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74778"/>
            <a:ext cx="16376844" cy="176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APLICACIÓ</a:t>
            </a:r>
            <a:r>
              <a:rPr lang="en-US" sz="99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N AL PROYECTO FIN DE CURSO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742" y="8145040"/>
            <a:ext cx="1964160" cy="1956607"/>
          </a:xfrm>
          <a:custGeom>
            <a:avLst/>
            <a:gdLst/>
            <a:ahLst/>
            <a:cxnLst/>
            <a:rect r="r" b="b" t="t" l="l"/>
            <a:pathLst>
              <a:path h="1956607" w="1964160">
                <a:moveTo>
                  <a:pt x="0" y="0"/>
                </a:moveTo>
                <a:lnTo>
                  <a:pt x="1964160" y="0"/>
                </a:lnTo>
                <a:lnTo>
                  <a:pt x="1964160" y="1956607"/>
                </a:lnTo>
                <a:lnTo>
                  <a:pt x="0" y="195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7087" y="5787821"/>
            <a:ext cx="16192213" cy="101201"/>
          </a:xfrm>
          <a:custGeom>
            <a:avLst/>
            <a:gdLst/>
            <a:ahLst/>
            <a:cxnLst/>
            <a:rect r="r" b="b" t="t" l="l"/>
            <a:pathLst>
              <a:path h="101201" w="16192213">
                <a:moveTo>
                  <a:pt x="0" y="0"/>
                </a:moveTo>
                <a:lnTo>
                  <a:pt x="16192213" y="0"/>
                </a:lnTo>
                <a:lnTo>
                  <a:pt x="16192213" y="101201"/>
                </a:lnTo>
                <a:lnTo>
                  <a:pt x="0" y="101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7087" y="2942547"/>
            <a:ext cx="1789509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07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9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314233" y="-3867586"/>
            <a:ext cx="18871222" cy="19436652"/>
          </a:xfrm>
          <a:custGeom>
            <a:avLst/>
            <a:gdLst/>
            <a:ahLst/>
            <a:cxnLst/>
            <a:rect r="r" b="b" t="t" l="l"/>
            <a:pathLst>
              <a:path h="19436652" w="18871222">
                <a:moveTo>
                  <a:pt x="0" y="0"/>
                </a:moveTo>
                <a:lnTo>
                  <a:pt x="18871222" y="0"/>
                </a:lnTo>
                <a:lnTo>
                  <a:pt x="18871222" y="19436652"/>
                </a:lnTo>
                <a:lnTo>
                  <a:pt x="0" y="19436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685447"/>
            <a:ext cx="1564609" cy="1601553"/>
          </a:xfrm>
          <a:custGeom>
            <a:avLst/>
            <a:gdLst/>
            <a:ahLst/>
            <a:cxnLst/>
            <a:rect r="r" b="b" t="t" l="l"/>
            <a:pathLst>
              <a:path h="1601553" w="1564609">
                <a:moveTo>
                  <a:pt x="0" y="0"/>
                </a:moveTo>
                <a:lnTo>
                  <a:pt x="1564609" y="0"/>
                </a:lnTo>
                <a:lnTo>
                  <a:pt x="1564609" y="1601553"/>
                </a:lnTo>
                <a:lnTo>
                  <a:pt x="0" y="1601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563" t="-9089" r="-65597" b="-844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40093" y="2027399"/>
            <a:ext cx="7807815" cy="729011"/>
            <a:chOff x="0" y="0"/>
            <a:chExt cx="10410420" cy="9720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410420" cy="972014"/>
              <a:chOff x="0" y="0"/>
              <a:chExt cx="2748223" cy="256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748223" cy="256600"/>
              </a:xfrm>
              <a:custGeom>
                <a:avLst/>
                <a:gdLst/>
                <a:ahLst/>
                <a:cxnLst/>
                <a:rect r="r" b="b" t="t" l="l"/>
                <a:pathLst>
                  <a:path h="256600" w="2748223">
                    <a:moveTo>
                      <a:pt x="5949" y="0"/>
                    </a:moveTo>
                    <a:lnTo>
                      <a:pt x="2742274" y="0"/>
                    </a:lnTo>
                    <a:cubicBezTo>
                      <a:pt x="2745560" y="0"/>
                      <a:pt x="2748223" y="2664"/>
                      <a:pt x="2748223" y="5949"/>
                    </a:cubicBezTo>
                    <a:lnTo>
                      <a:pt x="2748223" y="250650"/>
                    </a:lnTo>
                    <a:cubicBezTo>
                      <a:pt x="2748223" y="253936"/>
                      <a:pt x="2745560" y="256600"/>
                      <a:pt x="2742274" y="256600"/>
                    </a:cubicBezTo>
                    <a:lnTo>
                      <a:pt x="5949" y="256600"/>
                    </a:lnTo>
                    <a:cubicBezTo>
                      <a:pt x="2664" y="256600"/>
                      <a:pt x="0" y="253936"/>
                      <a:pt x="0" y="250650"/>
                    </a:cubicBezTo>
                    <a:lnTo>
                      <a:pt x="0" y="5949"/>
                    </a:lnTo>
                    <a:cubicBezTo>
                      <a:pt x="0" y="2664"/>
                      <a:pt x="2664" y="0"/>
                      <a:pt x="5949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2748223" cy="30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2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70883" y="15570"/>
              <a:ext cx="10091370" cy="845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5"/>
                </a:lnSpc>
              </a:pPr>
              <a:r>
                <a:rPr lang="en-US" sz="3718">
                  <a:solidFill>
                    <a:srgbClr val="000000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DEL LEVANTAMIENTO DE INFORMACIÓN A REQVIEW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31301" y="9391650"/>
            <a:ext cx="9425398" cy="645896"/>
            <a:chOff x="0" y="0"/>
            <a:chExt cx="12567197" cy="86119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567197" cy="861194"/>
              <a:chOff x="0" y="0"/>
              <a:chExt cx="3317586" cy="2273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17586" cy="227345"/>
              </a:xfrm>
              <a:custGeom>
                <a:avLst/>
                <a:gdLst/>
                <a:ahLst/>
                <a:cxnLst/>
                <a:rect r="r" b="b" t="t" l="l"/>
                <a:pathLst>
                  <a:path h="227345" w="3317586">
                    <a:moveTo>
                      <a:pt x="4928" y="0"/>
                    </a:moveTo>
                    <a:lnTo>
                      <a:pt x="3312657" y="0"/>
                    </a:lnTo>
                    <a:cubicBezTo>
                      <a:pt x="3313965" y="0"/>
                      <a:pt x="3315218" y="519"/>
                      <a:pt x="3316143" y="1443"/>
                    </a:cubicBezTo>
                    <a:cubicBezTo>
                      <a:pt x="3317067" y="2368"/>
                      <a:pt x="3317586" y="3621"/>
                      <a:pt x="3317586" y="4928"/>
                    </a:cubicBezTo>
                    <a:lnTo>
                      <a:pt x="3317586" y="222416"/>
                    </a:lnTo>
                    <a:cubicBezTo>
                      <a:pt x="3317586" y="225138"/>
                      <a:pt x="3315379" y="227345"/>
                      <a:pt x="3312657" y="227345"/>
                    </a:cubicBezTo>
                    <a:lnTo>
                      <a:pt x="4928" y="227345"/>
                    </a:lnTo>
                    <a:cubicBezTo>
                      <a:pt x="2206" y="227345"/>
                      <a:pt x="0" y="225138"/>
                      <a:pt x="0" y="222416"/>
                    </a:cubicBezTo>
                    <a:lnTo>
                      <a:pt x="0" y="4928"/>
                    </a:lnTo>
                    <a:cubicBezTo>
                      <a:pt x="0" y="2206"/>
                      <a:pt x="2206" y="0"/>
                      <a:pt x="4928" y="0"/>
                    </a:cubicBezTo>
                    <a:close/>
                  </a:path>
                </a:pathLst>
              </a:custGeom>
              <a:solidFill>
                <a:srgbClr val="FFD37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3317586" cy="274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24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6561" y="-9830"/>
              <a:ext cx="12397622" cy="845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5"/>
                </a:lnSpc>
              </a:pPr>
              <a:r>
                <a:rPr lang="en-US" sz="3718">
                  <a:solidFill>
                    <a:srgbClr val="000000"/>
                  </a:solidFill>
                  <a:latin typeface="Sugo Classic"/>
                  <a:ea typeface="Sugo Classic"/>
                  <a:cs typeface="Sugo Classic"/>
                  <a:sym typeface="Sugo Classic"/>
                </a:rPr>
                <a:t>DE UNA NECESIDAD EXPRESADA A UN REQUISITO CONTROLADO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217213" y="3967030"/>
            <a:ext cx="5853573" cy="5291270"/>
          </a:xfrm>
          <a:custGeom>
            <a:avLst/>
            <a:gdLst/>
            <a:ahLst/>
            <a:cxnLst/>
            <a:rect r="r" b="b" t="t" l="l"/>
            <a:pathLst>
              <a:path h="5291270" w="5853573">
                <a:moveTo>
                  <a:pt x="0" y="0"/>
                </a:moveTo>
                <a:lnTo>
                  <a:pt x="5853574" y="0"/>
                </a:lnTo>
                <a:lnTo>
                  <a:pt x="5853574" y="5291270"/>
                </a:lnTo>
                <a:lnTo>
                  <a:pt x="0" y="5291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350250" y="2977692"/>
            <a:ext cx="16230600" cy="85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460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La información de la elicitación no se copia literalmente. Se analiza la necesidad del stakeholder y se redacta un requisito claro, verificable y clasificable. Luego, se gestiona con atributos, prioridad, estado y trazabilidad.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0309" y="427121"/>
            <a:ext cx="11875490" cy="132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41"/>
              </a:lnSpc>
              <a:spcBef>
                <a:spcPct val="0"/>
              </a:spcBef>
            </a:pPr>
            <a:r>
              <a:rPr lang="en-US" sz="9832" spc="501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APLI</a:t>
            </a:r>
            <a:r>
              <a:rPr lang="en-US" sz="9832" spc="501" strike="noStrike" u="none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CACIÓN AL PFC - SGG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12267" y="3803452"/>
            <a:ext cx="7863465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DEMO - PRÁCTICA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858" y="8145155"/>
            <a:ext cx="1964044" cy="1956491"/>
          </a:xfrm>
          <a:custGeom>
            <a:avLst/>
            <a:gdLst/>
            <a:ahLst/>
            <a:cxnLst/>
            <a:rect r="r" b="b" t="t" l="l"/>
            <a:pathLst>
              <a:path h="1956491" w="1964044">
                <a:moveTo>
                  <a:pt x="0" y="0"/>
                </a:moveTo>
                <a:lnTo>
                  <a:pt x="1964044" y="0"/>
                </a:lnTo>
                <a:lnTo>
                  <a:pt x="1964044" y="1956492"/>
                </a:lnTo>
                <a:lnTo>
                  <a:pt x="0" y="1956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665765"/>
            <a:ext cx="11301259" cy="70633"/>
          </a:xfrm>
          <a:custGeom>
            <a:avLst/>
            <a:gdLst/>
            <a:ahLst/>
            <a:cxnLst/>
            <a:rect r="r" b="b" t="t" l="l"/>
            <a:pathLst>
              <a:path h="70633" w="11301259">
                <a:moveTo>
                  <a:pt x="0" y="0"/>
                </a:moveTo>
                <a:lnTo>
                  <a:pt x="11301258" y="0"/>
                </a:lnTo>
                <a:lnTo>
                  <a:pt x="11301258" y="70633"/>
                </a:lnTo>
                <a:lnTo>
                  <a:pt x="0" y="70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1609" y="2942547"/>
            <a:ext cx="1820466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866284" cy="1866284"/>
          </a:xfrm>
          <a:custGeom>
            <a:avLst/>
            <a:gdLst/>
            <a:ahLst/>
            <a:cxnLst/>
            <a:rect r="r" b="b" t="t" l="l"/>
            <a:pathLst>
              <a:path h="1866284" w="1866284">
                <a:moveTo>
                  <a:pt x="0" y="0"/>
                </a:moveTo>
                <a:lnTo>
                  <a:pt x="1866284" y="0"/>
                </a:lnTo>
                <a:lnTo>
                  <a:pt x="1866284" y="1866284"/>
                </a:lnTo>
                <a:lnTo>
                  <a:pt x="0" y="1866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6683" y="3732819"/>
            <a:ext cx="6734633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CONCL</a:t>
            </a:r>
            <a:r>
              <a:rPr lang="en-US" sz="10899" strike="noStrike" u="none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USIONES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1858" y="8145155"/>
            <a:ext cx="1964044" cy="1956491"/>
          </a:xfrm>
          <a:custGeom>
            <a:avLst/>
            <a:gdLst/>
            <a:ahLst/>
            <a:cxnLst/>
            <a:rect r="r" b="b" t="t" l="l"/>
            <a:pathLst>
              <a:path h="1956491" w="1964044">
                <a:moveTo>
                  <a:pt x="0" y="0"/>
                </a:moveTo>
                <a:lnTo>
                  <a:pt x="1964044" y="0"/>
                </a:lnTo>
                <a:lnTo>
                  <a:pt x="1964044" y="1956492"/>
                </a:lnTo>
                <a:lnTo>
                  <a:pt x="0" y="1956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09" t="-10858" r="-63821" b="-86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665765"/>
            <a:ext cx="11301259" cy="70633"/>
          </a:xfrm>
          <a:custGeom>
            <a:avLst/>
            <a:gdLst/>
            <a:ahLst/>
            <a:cxnLst/>
            <a:rect r="r" b="b" t="t" l="l"/>
            <a:pathLst>
              <a:path h="70633" w="11301259">
                <a:moveTo>
                  <a:pt x="0" y="0"/>
                </a:moveTo>
                <a:lnTo>
                  <a:pt x="11301258" y="0"/>
                </a:lnTo>
                <a:lnTo>
                  <a:pt x="11301258" y="70633"/>
                </a:lnTo>
                <a:lnTo>
                  <a:pt x="0" y="70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3335" y="2942547"/>
            <a:ext cx="1817013" cy="7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  <a:spcBef>
                <a:spcPct val="0"/>
              </a:spcBef>
            </a:pPr>
            <a:r>
              <a:rPr lang="en-US" sz="403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Sección 09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123" y="8330568"/>
            <a:ext cx="2032152" cy="1816336"/>
          </a:xfrm>
          <a:custGeom>
            <a:avLst/>
            <a:gdLst/>
            <a:ahLst/>
            <a:cxnLst/>
            <a:rect r="r" b="b" t="t" l="l"/>
            <a:pathLst>
              <a:path h="1816336" w="2032152">
                <a:moveTo>
                  <a:pt x="0" y="0"/>
                </a:moveTo>
                <a:lnTo>
                  <a:pt x="2032152" y="0"/>
                </a:lnTo>
                <a:lnTo>
                  <a:pt x="2032152" y="1816336"/>
                </a:lnTo>
                <a:lnTo>
                  <a:pt x="0" y="1816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22" t="-12944" r="-34536" b="-136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14487" y="190695"/>
            <a:ext cx="2013404" cy="2060945"/>
          </a:xfrm>
          <a:custGeom>
            <a:avLst/>
            <a:gdLst/>
            <a:ahLst/>
            <a:cxnLst/>
            <a:rect r="r" b="b" t="t" l="l"/>
            <a:pathLst>
              <a:path h="2060945" w="2013404">
                <a:moveTo>
                  <a:pt x="0" y="0"/>
                </a:moveTo>
                <a:lnTo>
                  <a:pt x="2013404" y="0"/>
                </a:lnTo>
                <a:lnTo>
                  <a:pt x="2013404" y="2060945"/>
                </a:lnTo>
                <a:lnTo>
                  <a:pt x="0" y="2060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563" t="-9089" r="-65597" b="-84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20982" y="684710"/>
            <a:ext cx="8577876" cy="10385307"/>
          </a:xfrm>
          <a:custGeom>
            <a:avLst/>
            <a:gdLst/>
            <a:ahLst/>
            <a:cxnLst/>
            <a:rect r="r" b="b" t="t" l="l"/>
            <a:pathLst>
              <a:path h="10385307" w="8577876">
                <a:moveTo>
                  <a:pt x="0" y="0"/>
                </a:moveTo>
                <a:lnTo>
                  <a:pt x="8577876" y="0"/>
                </a:lnTo>
                <a:lnTo>
                  <a:pt x="8577876" y="10385307"/>
                </a:lnTo>
                <a:lnTo>
                  <a:pt x="0" y="10385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971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8276" y="2790443"/>
            <a:ext cx="10174486" cy="452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6" indent="-248283" lvl="1">
              <a:lnSpc>
                <a:spcPts val="4553"/>
              </a:lnSpc>
              <a:buFont typeface="Arial"/>
              <a:buChar char="•"/>
            </a:pPr>
            <a:r>
              <a:rPr lang="en-US" sz="2299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Umar y Lano, muestran que la automatización constituye una línea activa de investigación en la Ingeniería de Requisitos.</a:t>
            </a:r>
          </a:p>
          <a:p>
            <a:pPr algn="just" marL="496566" indent="-248283" lvl="1">
              <a:lnSpc>
                <a:spcPts val="4553"/>
              </a:lnSpc>
              <a:buFont typeface="Arial"/>
              <a:buChar char="•"/>
            </a:pPr>
            <a:r>
              <a:rPr lang="en-US" sz="2299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La trazabilidad representa una característica importante en la gestión de requisitos</a:t>
            </a:r>
          </a:p>
          <a:p>
            <a:pPr algn="just" marL="496566" indent="-248283" lvl="1">
              <a:lnSpc>
                <a:spcPts val="4553"/>
              </a:lnSpc>
              <a:buFont typeface="Arial"/>
              <a:buChar char="•"/>
            </a:pPr>
            <a:r>
              <a:rPr lang="en-US" sz="2299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Su interfaz sencilla ayuda a que los equipos documenten y actualicen información de manera ordenada.</a:t>
            </a:r>
          </a:p>
          <a:p>
            <a:pPr algn="just" marL="496566" indent="-248283" lvl="1">
              <a:lnSpc>
                <a:spcPts val="4553"/>
              </a:lnSpc>
              <a:buFont typeface="Arial"/>
              <a:buChar char="•"/>
            </a:pPr>
            <a:r>
              <a:rPr lang="en-US" sz="2299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La s</a:t>
            </a:r>
            <a:r>
              <a:rPr lang="en-US" sz="2299">
                <a:solidFill>
                  <a:srgbClr val="191919"/>
                </a:solidFill>
                <a:latin typeface="Blacker Sans Pro"/>
                <a:ea typeface="Blacker Sans Pro"/>
                <a:cs typeface="Blacker Sans Pro"/>
                <a:sym typeface="Blacker Sans Pro"/>
              </a:rPr>
              <a:t>elección de una herramienta dependerá de las características y necesidades de cada proyecto.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8276" y="748927"/>
            <a:ext cx="8183008" cy="156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61"/>
              </a:lnSpc>
              <a:spcBef>
                <a:spcPct val="0"/>
              </a:spcBef>
            </a:pPr>
            <a:r>
              <a:rPr lang="en-US" sz="11749" spc="599">
                <a:solidFill>
                  <a:srgbClr val="191919"/>
                </a:solidFill>
                <a:latin typeface="Sugo Classic"/>
                <a:ea typeface="Sugo Classic"/>
                <a:cs typeface="Sugo Classic"/>
                <a:sym typeface="Sugo Classic"/>
              </a:rPr>
              <a:t>CONCLUSIONES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5999" y="3732819"/>
            <a:ext cx="16436002" cy="193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259"/>
              </a:lnSpc>
              <a:spcBef>
                <a:spcPct val="0"/>
              </a:spcBef>
            </a:pPr>
            <a:r>
              <a:rPr lang="en-US" sz="10899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¡MUCHAS GRACIAS POR SU ATENCIÓN!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141936" y="8145232"/>
            <a:ext cx="1963967" cy="1956415"/>
          </a:xfrm>
          <a:custGeom>
            <a:avLst/>
            <a:gdLst/>
            <a:ahLst/>
            <a:cxnLst/>
            <a:rect r="r" b="b" t="t" l="l"/>
            <a:pathLst>
              <a:path h="1956415" w="1963967">
                <a:moveTo>
                  <a:pt x="0" y="0"/>
                </a:moveTo>
                <a:lnTo>
                  <a:pt x="1963966" y="0"/>
                </a:lnTo>
                <a:lnTo>
                  <a:pt x="1963966" y="1956415"/>
                </a:lnTo>
                <a:lnTo>
                  <a:pt x="0" y="1956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009" t="-10858" r="-63821" b="-868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665765"/>
            <a:ext cx="16230600" cy="101441"/>
          </a:xfrm>
          <a:custGeom>
            <a:avLst/>
            <a:gdLst/>
            <a:ahLst/>
            <a:cxnLst/>
            <a:rect r="r" b="b" t="t" l="l"/>
            <a:pathLst>
              <a:path h="101441" w="16230600">
                <a:moveTo>
                  <a:pt x="0" y="0"/>
                </a:moveTo>
                <a:lnTo>
                  <a:pt x="16230600" y="0"/>
                </a:lnTo>
                <a:lnTo>
                  <a:pt x="16230600" y="101441"/>
                </a:lnTo>
                <a:lnTo>
                  <a:pt x="0" y="101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DAHL02nMk0o</dc:identifier>
  <dcterms:modified xsi:type="dcterms:W3CDTF">2011-08-01T06:04:30Z</dcterms:modified>
  <cp:revision>1</cp:revision>
  <dc:title>ReqView</dc:title>
</cp:coreProperties>
</file>